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iq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2882257-C285-474B-ABCA-7C482A78A397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4C5D21-1709-4E11-9D50-F7A8CF1DD3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83D81E-25DE-4CE3-A247-8081DAC31B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019852-105A-49BF-8621-973B95F5A8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DC4041B-7B18-4E62-B97B-53B080CAEB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1E3BB2-BA66-4677-830C-B71E60C421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DF28F5-04B9-4F96-B174-26C421E6FD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9216CA-CB5F-401D-AF0F-E969330E3F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C51AC2-F83B-4A32-87E5-B84E836C5C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07EE5F-F911-4DB7-841F-723FFD7E1F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3F0DE8-4A49-40BC-9AA9-647975DFEB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C3F83F-BE16-4BAF-A35A-D96595DBBE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44E028-D0F0-4D0B-90E7-D76C601D94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C75ADF-8C27-4F5C-A11A-6E9BDCE832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B9C677D-6B26-4B5A-AA99-03D7111152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</a:t>
            </a: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7132320" y="-457200"/>
            <a:ext cx="3199680" cy="31996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772400" y="2560320"/>
            <a:ext cx="1828080" cy="18280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548640"/>
            <a:ext cx="2376720" cy="291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548640"/>
            <a:ext cx="2376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SEMINÁRIO DE PESQUISA</a:t>
            </a:r>
            <a:endParaRPr lang="pt-B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65760" y="1005840"/>
            <a:ext cx="82288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Impactos da IA Generativa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Desenvolvimento de Software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65760" y="283464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i="1" u="none" strike="noStrike">
                <a:solidFill>
                  <a:srgbClr val="ccfbf1"/>
                </a:solidFill>
                <a:effectLst/>
                <a:uFillTx/>
                <a:latin typeface="Calibri"/>
                <a:ea typeface="Calibri"/>
              </a:rPr>
              <a:t>Uma análise focada em programadores iniciantes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65760" y="3383280"/>
            <a:ext cx="5028480" cy="36000"/>
          </a:xfrm>
          <a:prstGeom prst="rect">
            <a:avLst/>
          </a:prstGeom>
          <a:solidFill>
            <a:srgbClr val="0d9488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5760" y="352044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b0c4de"/>
                </a:solidFill>
                <a:effectLst/>
                <a:uFillTx/>
                <a:latin typeface="Calibri"/>
                <a:ea typeface="Calibri"/>
              </a:rPr>
              <a:t>Eduardo Murta De Abreu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65760" y="3931920"/>
            <a:ext cx="3656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Abril de 2026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65760" y="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AGENDA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320040" y="1005840"/>
            <a:ext cx="420552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320040" y="1005840"/>
            <a:ext cx="7236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57200" y="1115640"/>
            <a:ext cx="502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57200" y="11156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069920" y="10789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Introdução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1069920" y="146304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Contexto, motivação e objetivos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8"/>
          <p:cNvSpPr/>
          <p:nvPr/>
        </p:nvSpPr>
        <p:spPr>
          <a:xfrm>
            <a:off x="320040" y="2240280"/>
            <a:ext cx="420552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20040" y="2240280"/>
            <a:ext cx="7236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457200" y="2350080"/>
            <a:ext cx="502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457200" y="2350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1069920" y="231336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Justificativa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1069920" y="269748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Por que este tema importa?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320040" y="3474720"/>
            <a:ext cx="420552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320040" y="3474720"/>
            <a:ext cx="7236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457200" y="3584520"/>
            <a:ext cx="502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457200" y="358452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1069920" y="354780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Referencial Teórico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1069920" y="39319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Base conceitual da pesquisa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4846320" y="1005840"/>
            <a:ext cx="420552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1"/>
          <p:cNvSpPr/>
          <p:nvPr/>
        </p:nvSpPr>
        <p:spPr>
          <a:xfrm>
            <a:off x="4846320" y="1005840"/>
            <a:ext cx="7236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4983480" y="1115640"/>
            <a:ext cx="502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3"/>
          <p:cNvSpPr/>
          <p:nvPr/>
        </p:nvSpPr>
        <p:spPr>
          <a:xfrm>
            <a:off x="4983480" y="111564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04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5596200" y="10789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Trabalhos Relacionados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5"/>
          <p:cNvSpPr/>
          <p:nvPr/>
        </p:nvSpPr>
        <p:spPr>
          <a:xfrm>
            <a:off x="5596200" y="146304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6 artigos selecionados com Qualis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6"/>
          <p:cNvSpPr/>
          <p:nvPr/>
        </p:nvSpPr>
        <p:spPr>
          <a:xfrm>
            <a:off x="4846320" y="2240280"/>
            <a:ext cx="4205520" cy="1005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7"/>
          <p:cNvSpPr/>
          <p:nvPr/>
        </p:nvSpPr>
        <p:spPr>
          <a:xfrm>
            <a:off x="4846320" y="2240280"/>
            <a:ext cx="72360" cy="1005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8"/>
          <p:cNvSpPr/>
          <p:nvPr/>
        </p:nvSpPr>
        <p:spPr>
          <a:xfrm>
            <a:off x="4983480" y="2350080"/>
            <a:ext cx="502200" cy="502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9"/>
          <p:cNvSpPr/>
          <p:nvPr/>
        </p:nvSpPr>
        <p:spPr>
          <a:xfrm>
            <a:off x="4983480" y="2350080"/>
            <a:ext cx="5022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05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0"/>
          <p:cNvSpPr/>
          <p:nvPr/>
        </p:nvSpPr>
        <p:spPr>
          <a:xfrm>
            <a:off x="5596200" y="231336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Conclusão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1"/>
          <p:cNvSpPr/>
          <p:nvPr/>
        </p:nvSpPr>
        <p:spPr>
          <a:xfrm>
            <a:off x="5596200" y="269748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Síntese e próximos passos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0" y="82296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65760" y="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INTRODUÇÃO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182880" y="1005840"/>
            <a:ext cx="2833920" cy="338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182880" y="1005840"/>
            <a:ext cx="2833920" cy="6393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274320" y="1005840"/>
            <a:ext cx="265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Contexto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320040" y="1783080"/>
            <a:ext cx="2605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 IA Generativa — especialmente modelos como ChatGPT e GitHub Copilot — transformou drasticamente o desenvolvimento de software desde 2022.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3127320" y="1005840"/>
            <a:ext cx="2833920" cy="338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3127320" y="1005840"/>
            <a:ext cx="2833920" cy="63936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3218760" y="1005840"/>
            <a:ext cx="265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Cenário Educacional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3264480" y="1783080"/>
            <a:ext cx="2605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Programadores iniciantes e estudantes de Ciência da Computação estão cada vez mais utilizando essas ferramentas durante seu processo de aprendizagem.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6071760" y="1005840"/>
            <a:ext cx="2833920" cy="3382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6071760" y="1005840"/>
            <a:ext cx="2833920" cy="639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6163200" y="1005840"/>
            <a:ext cx="2651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Problema Central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6208920" y="1783080"/>
            <a:ext cx="26053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Qual o real impacto dessas ferramentas no desenvolvimento das competências de programação? Benefício ou atalho cognitivo?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0" y="82296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365760" y="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MOTIVAÇÃO &amp; OBJETIVOS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274320" y="1005840"/>
            <a:ext cx="393120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4"/>
          <p:cNvSpPr/>
          <p:nvPr/>
        </p:nvSpPr>
        <p:spPr>
          <a:xfrm>
            <a:off x="274320" y="1005840"/>
            <a:ext cx="3931200" cy="45648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365760" y="100584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Motivação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457200" y="1600200"/>
            <a:ext cx="361116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Adoção massiva de IA em ambientes acadêmicos e profissionais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Falta de diretrizes pedagógicas claras para uso responsável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Risco de dependência tecnológica precoce em iniciantes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Necessidade de repensar currículos de Ciência da Computação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7"/>
          <p:cNvSpPr/>
          <p:nvPr/>
        </p:nvSpPr>
        <p:spPr>
          <a:xfrm>
            <a:off x="4572000" y="1005840"/>
            <a:ext cx="4205520" cy="3656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8"/>
          <p:cNvSpPr/>
          <p:nvPr/>
        </p:nvSpPr>
        <p:spPr>
          <a:xfrm>
            <a:off x="4572000" y="1005840"/>
            <a:ext cx="4205520" cy="456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4663440" y="1005840"/>
            <a:ext cx="3931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Objetivos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4709160" y="1600200"/>
            <a:ext cx="639360" cy="246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4709160" y="1600200"/>
            <a:ext cx="639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Geral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440680" y="1581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Investigar como a IA Generativa impacta a aprendizagem de programação por iniciantes.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3"/>
          <p:cNvSpPr/>
          <p:nvPr/>
        </p:nvSpPr>
        <p:spPr>
          <a:xfrm>
            <a:off x="4709160" y="2377440"/>
            <a:ext cx="639360" cy="246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4709160" y="2377440"/>
            <a:ext cx="639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Específico 1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440680" y="235908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Identificar benefícios e limitações das ferramentas de IA no ensino de programação.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6"/>
          <p:cNvSpPr/>
          <p:nvPr/>
        </p:nvSpPr>
        <p:spPr>
          <a:xfrm>
            <a:off x="4709160" y="3154680"/>
            <a:ext cx="639360" cy="246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4709160" y="3154680"/>
            <a:ext cx="639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Específico 2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5440680" y="313632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Analisar riscos pedagógicos como dependência e redução do esforço cognitivo.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9"/>
          <p:cNvSpPr/>
          <p:nvPr/>
        </p:nvSpPr>
        <p:spPr>
          <a:xfrm>
            <a:off x="4709160" y="3931920"/>
            <a:ext cx="639360" cy="246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4709160" y="3931920"/>
            <a:ext cx="639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Específico 3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1"/>
          <p:cNvSpPr/>
          <p:nvPr/>
        </p:nvSpPr>
        <p:spPr>
          <a:xfrm>
            <a:off x="5440680" y="391356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Propor diretrizes para integração responsável da IA no ensino.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365760" y="182880"/>
            <a:ext cx="8411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pc="201" strike="noStrike">
                <a:solidFill>
                  <a:srgbClr val="0d9488"/>
                </a:solidFill>
                <a:effectLst/>
                <a:uFillTx/>
                <a:latin typeface="Calibri"/>
              </a:rPr>
              <a:t>POR QUE ESTE TEMA É RELEVANTE?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457200" y="822960"/>
            <a:ext cx="2651040" cy="18280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457200" y="914400"/>
            <a:ext cx="2651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92%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548640" y="178308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dos desenvolvedores profissionais já utilizam IA no trabalho (GitHub Survey 2023)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3383280" y="822960"/>
            <a:ext cx="2651040" cy="18280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3383280" y="914400"/>
            <a:ext cx="2651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46%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3474720" y="178308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dos estudantes de TI usam ferramentas de IA diariamente em atividades acadêmicas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7"/>
          <p:cNvSpPr/>
          <p:nvPr/>
        </p:nvSpPr>
        <p:spPr>
          <a:xfrm>
            <a:off x="6309360" y="822960"/>
            <a:ext cx="2651040" cy="18280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6309360" y="914400"/>
            <a:ext cx="26510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↑30%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6400800" y="178308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de melhoria nas notas de iniciantes que usam IA em estudos controlados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365760" y="2880360"/>
            <a:ext cx="8411760" cy="191952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1"/>
          <p:cNvSpPr/>
          <p:nvPr/>
        </p:nvSpPr>
        <p:spPr>
          <a:xfrm>
            <a:off x="365760" y="2880360"/>
            <a:ext cx="72360" cy="19195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548640" y="2926080"/>
            <a:ext cx="8046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Justificativa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548640" y="3337560"/>
            <a:ext cx="8046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e2f8f5"/>
                </a:solidFill>
                <a:effectLst/>
                <a:uFillTx/>
                <a:latin typeface="Calibri"/>
              </a:rPr>
              <a:t>A crescente integração de ferramentas de IA Generativa no ensino de programação levanta questões fundamentais sobre qualidade da aprendizagem. Embora estudos demonstrem ganhos de produtividade, a literatura também aponta riscos de dependência tecnológica e redução do desenvolvimento de habilidades essenciais — como depuração, raciocínio lógico e resolução de problemas — em programadores iniciantes. Este trabalho busca subsidiar educadores e instituições com evidências para uma adoção pedagógica responsável.</a:t>
            </a:r>
            <a:endParaRPr lang="pt-B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0" y="82296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365760" y="0"/>
            <a:ext cx="8228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REFERENCIAL TEÓRICO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82880" y="96012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182880" y="96012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347400" y="103320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IA Generativa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347400" y="136260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Modelos de linguagem de grande escala (LLMs) como GPT-4 e Codex, capazes de gerar código, explicações e soluções a partir de prompts em linguagem natural.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7"/>
          <p:cNvSpPr/>
          <p:nvPr/>
        </p:nvSpPr>
        <p:spPr>
          <a:xfrm>
            <a:off x="4663440" y="96012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4663440" y="96012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4827960" y="103320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Carga Cognitiva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4827960" y="136260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Teoria de Sweller (1988): aprender envolve processar informação na memória de trabalho. O uso de IA pode reduzir a carga intrínseca, mas também a aprendizagem desejável.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1"/>
          <p:cNvSpPr/>
          <p:nvPr/>
        </p:nvSpPr>
        <p:spPr>
          <a:xfrm>
            <a:off x="182880" y="230436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182880" y="230436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3"/>
          <p:cNvSpPr/>
          <p:nvPr/>
        </p:nvSpPr>
        <p:spPr>
          <a:xfrm>
            <a:off x="347400" y="237744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Aprendizagem Ativa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347400" y="270648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Estudantes aprendem mais efetivamente quando constroem ativamente o conhecimento. O uso passivo de IA pode comprometer esse processo fundamental.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5"/>
          <p:cNvSpPr/>
          <p:nvPr/>
        </p:nvSpPr>
        <p:spPr>
          <a:xfrm>
            <a:off x="4663440" y="230436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4663440" y="230436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4827960" y="237744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Andaimes Pedagógicos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4827960" y="270648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Scaffolding: suporte temporário que deve ser gradualmente removido. A IA pode funcionar como andaime se bem integrada, ou como muleta se usada sem critério.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182880" y="364860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>
            <a:off x="182880" y="364860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347400" y="372168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Metacognição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2"/>
          <p:cNvSpPr/>
          <p:nvPr/>
        </p:nvSpPr>
        <p:spPr>
          <a:xfrm>
            <a:off x="347400" y="4050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Capacidade de monitorar e regular o próprio aprendizado. Ferramentas de IA devem estimular e não substituir a reflexão crítica do estudante.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3"/>
          <p:cNvSpPr/>
          <p:nvPr/>
        </p:nvSpPr>
        <p:spPr>
          <a:xfrm>
            <a:off x="4663440" y="3648600"/>
            <a:ext cx="4296960" cy="1188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4"/>
          <p:cNvSpPr/>
          <p:nvPr/>
        </p:nvSpPr>
        <p:spPr>
          <a:xfrm>
            <a:off x="4663440" y="3648600"/>
            <a:ext cx="63360" cy="1188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4827960" y="3721680"/>
            <a:ext cx="397692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744"/>
                </a:solidFill>
                <a:effectLst/>
                <a:uFillTx/>
                <a:latin typeface="Calibri"/>
              </a:rPr>
              <a:t>Ética em IA Educacional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6"/>
          <p:cNvSpPr/>
          <p:nvPr/>
        </p:nvSpPr>
        <p:spPr>
          <a:xfrm>
            <a:off x="4827960" y="4050720"/>
            <a:ext cx="397692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Questões de integridade acadêmica, vieses dos modelos, privacidade de dados e equidade de acesso que permeiam o uso de IA em contextos educacionais.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1/6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SIGCSE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Computing Education in the Era of Generative AI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Discute como GitHub Copilot e ChatGPT modificam o aprendizado de programação. Analisa aumento de produtividade e riscos pedagógicos como atalhos cognitivos que impedem o desenvolvimento de habilidades fundamentais.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Análise abrangente de ferramentas populares (Copilot, ChatGPT)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Propõe adaptação curricular focada em pensamento crítico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Publicação em conferência de referência (SIGCSE A1)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Não apresenta experimento controlado — análise qualitativa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Não quantifica impacto no desempenho a longo prazo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2/6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A2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EASE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Evaluating the Effectiveness of LLMs in Introductory CS Education: A Semester-Long Field Study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Estudo de campo de um semestre comparando estudantes que usaram IA vs. métodos tradicionais. Grupo com IA apresentou melhoria em notas e velocidade na resolução de exercícios, mas com risco de dependência excessiva.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Delineamento experimental robusto (estudo longitudinal, grupo controle)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Dados quantitativos sobre notas e tempo de resolução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Alta validade interna pelo acompanhamento ao longo do semestre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Contexto específico pode limitar generalização dos resultados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Não analisa retenção do conhecimento após remoção da ferramenta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3/6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A2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ITiCSE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The Robots Are Here: Navigating the Generative AI Era in Computing Education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Revisão da literatura e entrevistas com educadores sobre integração de LLMs no ensino de computação. Destaca personalização do aprendizado, mas também desafios éticos, dependência e necessidade de atualização curricular.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Múltiplas perspectivas: literatura + entrevistas com especialistas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Aborda desafios éticos pouco explorados na área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Discute impacto curricular de forma prática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Metodologia qualitativa sem validação estatística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Pode refletir vieses das instituições participantes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4/6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IEEE Access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Navigating the Pitfalls: Analyzing the Behavior of LLMs as a Coding Assistant for CS Students — A Systematic Review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Revisão sistemática da literatura sobre LLMs como assistentes de programação. Mostra que modelos auxiliam na geração de código e explicação de algoritmos, mas cometem erros e geram explicações imprecisas.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Revisão sistemática rigorosa com múltiplos estudos analisados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Identifica armadilhas específicas dos LLMs (erros, imprecisões)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Publicado em periódico de alto impacto (IEEE Access A1)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Foco em erros técnicos, sem profundidade no impacto pedagógico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Pode tornar-se desatualizado rapidamente dada a velocidade de evolução dos modelos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5/6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A1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Education &amp; IT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AI in the Classroom: Exploring Students' Interaction with ChatGPT in Programming Learning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Investiga como estratégias de ensino influenciam o uso do ChatGPT em programação. Mostra que a ferramenta auxilia na compreensão de conceitos, mas pode reduzir o esforço cognitivo dos estudantes.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Análise do comportamento real dos estudantes com a ferramenta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Considera diferentes estratégias de ensino como variável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Publicação recente (2025) com dados atualizados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Tamanho amostral limitado (contexto único)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Difícil controle de variáveis externas no ambiente de sala de aula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9143280" cy="77652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0" y="77724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365760" y="0"/>
            <a:ext cx="6400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7772400" y="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6/6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228600" y="960120"/>
            <a:ext cx="8686080" cy="10508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"/>
          <p:cNvSpPr/>
          <p:nvPr/>
        </p:nvSpPr>
        <p:spPr>
          <a:xfrm>
            <a:off x="320040" y="1051560"/>
            <a:ext cx="8222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Qualis A2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1234440" y="1051560"/>
            <a:ext cx="1645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Computers (MDPI)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9"/>
          <p:cNvSpPr/>
          <p:nvPr/>
        </p:nvSpPr>
        <p:spPr>
          <a:xfrm>
            <a:off x="320040" y="1463040"/>
            <a:ext cx="83660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ccfbf1"/>
                </a:solidFill>
                <a:effectLst/>
                <a:uFillTx/>
                <a:latin typeface="Calibri"/>
              </a:rPr>
              <a:t>The Influence of Artificial Intelligence Tools on Learning Outcomes in Computer Programming: A Systematic Review and Meta-Analysis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0"/>
          <p:cNvSpPr/>
          <p:nvPr/>
        </p:nvSpPr>
        <p:spPr>
          <a:xfrm>
            <a:off x="228600" y="2103120"/>
            <a:ext cx="8686080" cy="913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228600" y="2103120"/>
            <a:ext cx="63360" cy="913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2"/>
          <p:cNvSpPr/>
          <p:nvPr/>
        </p:nvSpPr>
        <p:spPr>
          <a:xfrm>
            <a:off x="384120" y="213048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 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384120" y="2395800"/>
            <a:ext cx="82288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Meta-análise comparando estudantes com e sem IA em experimentos controlados. Confirma melhoria no desempenho acadêmico e engajamento, mas aponta riscos quando IA é usada sem orientação pedagógica.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22860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228600" y="3127320"/>
            <a:ext cx="4251240" cy="34668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32004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Vantagens / Contribuições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34740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Meta-análise oferece o mais alto nível de evidência científica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34740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Combina resultados de múltiplos estudos controlados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347400" y="427932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Quantifica tamanho do efeito da IA no desempenho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4663440" y="3127320"/>
            <a:ext cx="4251240" cy="16909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4663440" y="3127320"/>
            <a:ext cx="4251240" cy="34668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4754880" y="3127320"/>
            <a:ext cx="4114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Limitações / Desvantagens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4773240" y="35478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Heterogeneidade dos estudos pode limitar validade das conclusões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4"/>
          <p:cNvSpPr/>
          <p:nvPr/>
        </p:nvSpPr>
        <p:spPr>
          <a:xfrm>
            <a:off x="4773240" y="391356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Ferramentas e contextos variam muito entre os estudos incluídos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9143280" cy="822240"/>
          </a:xfrm>
          <a:prstGeom prst="rect">
            <a:avLst/>
          </a:prstGeom>
          <a:solidFill>
            <a:srgbClr val="1a27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"/>
          <p:cNvSpPr/>
          <p:nvPr/>
        </p:nvSpPr>
        <p:spPr>
          <a:xfrm>
            <a:off x="0" y="822960"/>
            <a:ext cx="9143280" cy="5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365760" y="0"/>
            <a:ext cx="84117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SÍNTESE DOS TRABALHOS RELACIONADOS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3" name="Table 0"/>
          <p:cNvGraphicFramePr/>
          <p:nvPr/>
        </p:nvGraphicFramePr>
        <p:xfrm>
          <a:off x="228600" y="960120"/>
          <a:ext cx="8686440" cy="39312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731520"/>
                <a:gridCol w="1280160"/>
                <a:gridCol w="3474720"/>
              </a:tblGrid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Artigo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Venue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Qualis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Foco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Relação com o Tema</a:t>
                      </a:r>
                      <a:endParaRPr lang="pt-B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Prather et al. (2024)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SIGCSE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166534"/>
                          </a:solidFill>
                          <a:effectLst/>
                          <a:uFillTx/>
                          <a:latin typeface="Calibri"/>
                        </a:rPr>
                        <a:t>A1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Pedagógico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Riscos e benefícios diretos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Lyu et al. (2024)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EASE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0f766e"/>
                          </a:solidFill>
                          <a:effectLst/>
                          <a:uFillTx/>
                          <a:latin typeface="Calibri"/>
                        </a:rPr>
                        <a:t>A2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Experimental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Impacto quantitativo em iniciantes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Leinonen et al. (2023)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ITiCSE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0f766e"/>
                          </a:solidFill>
                          <a:effectLst/>
                          <a:uFillTx/>
                          <a:latin typeface="Calibri"/>
                        </a:rPr>
                        <a:t>A2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Curricular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Perspectiva educadores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Azam, Loo et al. (2024)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IEEE Access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166534"/>
                          </a:solidFill>
                          <a:effectLst/>
                          <a:uFillTx/>
                          <a:latin typeface="Calibri"/>
                        </a:rPr>
                        <a:t>A1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Técnico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Limitações técnicas dos LLMs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Güner &amp; Er (2025)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Educ. &amp; IT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166534"/>
                          </a:solidFill>
                          <a:effectLst/>
                          <a:uFillTx/>
                          <a:latin typeface="Calibri"/>
                        </a:rPr>
                        <a:t>A1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Comportamental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Mediação pedagógica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M.A. et al. (2025)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Computers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1" u="none" strike="noStrike">
                          <a:solidFill>
                            <a:srgbClr val="0f766e"/>
                          </a:solidFill>
                          <a:effectLst/>
                          <a:uFillTx/>
                          <a:latin typeface="Calibri"/>
                        </a:rPr>
                        <a:t>A2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Meta-análise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9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Síntese quantitativa</a:t>
                      </a:r>
                      <a:endParaRPr lang="pt-B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e2e8f0"/>
                      </a:solidFill>
                      <a:prstDash val="solid"/>
                    </a:lnL>
                    <a:lnR w="6480">
                      <a:solidFill>
                        <a:srgbClr val="e2e8f0"/>
                      </a:solidFill>
                      <a:prstDash val="solid"/>
                    </a:lnR>
                    <a:lnT w="6480">
                      <a:solidFill>
                        <a:srgbClr val="e2e8f0"/>
                      </a:solidFill>
                      <a:prstDash val="solid"/>
                    </a:lnT>
                    <a:lnB w="648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0"/>
          <p:cNvSpPr/>
          <p:nvPr/>
        </p:nvSpPr>
        <p:spPr>
          <a:xfrm>
            <a:off x="6858000" y="-731520"/>
            <a:ext cx="3656880" cy="36568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-457200" y="3200400"/>
            <a:ext cx="2285280" cy="228528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2"/>
          <p:cNvSpPr/>
          <p:nvPr/>
        </p:nvSpPr>
        <p:spPr>
          <a:xfrm>
            <a:off x="0" y="0"/>
            <a:ext cx="163800" cy="5142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365760" y="228600"/>
            <a:ext cx="8228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201" strike="noStrike">
                <a:solidFill>
                  <a:srgbClr val="0d9488"/>
                </a:solidFill>
                <a:effectLst/>
                <a:uFillTx/>
                <a:latin typeface="Calibri"/>
              </a:rPr>
              <a:t>SÍNTESE &amp; PRÓXIMOS PASSOS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320040" y="822960"/>
            <a:ext cx="8503200" cy="8038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5"/>
          <p:cNvSpPr/>
          <p:nvPr/>
        </p:nvSpPr>
        <p:spPr>
          <a:xfrm>
            <a:off x="320040" y="822960"/>
            <a:ext cx="63360" cy="803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6"/>
          <p:cNvSpPr/>
          <p:nvPr/>
        </p:nvSpPr>
        <p:spPr>
          <a:xfrm>
            <a:off x="457200" y="82296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7"/>
          <p:cNvSpPr/>
          <p:nvPr/>
        </p:nvSpPr>
        <p:spPr>
          <a:xfrm>
            <a:off x="1097280" y="868680"/>
            <a:ext cx="7588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IA Generativa oferece ganhos reais de produtividade e engajamento para programadores iniciantes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320040" y="1828800"/>
            <a:ext cx="8503200" cy="8038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9"/>
          <p:cNvSpPr/>
          <p:nvPr/>
        </p:nvSpPr>
        <p:spPr>
          <a:xfrm>
            <a:off x="320040" y="1828800"/>
            <a:ext cx="63360" cy="803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457200" y="182880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1097280" y="1874520"/>
            <a:ext cx="7588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 risco de dependência excessiva e redução de habilidades cognitivas é consistente na literatura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316440" y="2834640"/>
            <a:ext cx="8503200" cy="8038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3"/>
          <p:cNvSpPr/>
          <p:nvPr/>
        </p:nvSpPr>
        <p:spPr>
          <a:xfrm>
            <a:off x="320040" y="2834640"/>
            <a:ext cx="63360" cy="803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457200" y="283464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5"/>
          <p:cNvSpPr/>
          <p:nvPr/>
        </p:nvSpPr>
        <p:spPr>
          <a:xfrm>
            <a:off x="1097280" y="2880360"/>
            <a:ext cx="7588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mediação pedagógica é o fator crítico: o como se usa importa mais do que o se usa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320040" y="3840480"/>
            <a:ext cx="8503200" cy="803880"/>
          </a:xfrm>
          <a:prstGeom prst="rect">
            <a:avLst/>
          </a:prstGeom>
          <a:solidFill>
            <a:srgbClr val="0f34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7"/>
          <p:cNvSpPr/>
          <p:nvPr/>
        </p:nvSpPr>
        <p:spPr>
          <a:xfrm>
            <a:off x="320040" y="3840480"/>
            <a:ext cx="63360" cy="8038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8"/>
          <p:cNvSpPr/>
          <p:nvPr/>
        </p:nvSpPr>
        <p:spPr>
          <a:xfrm>
            <a:off x="457200" y="384048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1097280" y="3886200"/>
            <a:ext cx="7588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Próximos passos: definição da metodologia de pesquisa e coleta de dados primários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0"/>
          <p:cNvSpPr/>
          <p:nvPr/>
        </p:nvSpPr>
        <p:spPr>
          <a:xfrm>
            <a:off x="365760" y="4663440"/>
            <a:ext cx="8228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Obrigado!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457560" y="283464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8"/>
          <p:cNvSpPr/>
          <p:nvPr/>
        </p:nvSpPr>
        <p:spPr>
          <a:xfrm>
            <a:off x="457200" y="3780000"/>
            <a:ext cx="5479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LibreOffice/25.8.6.2$Linux_X86_64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2026-04-10T01:04:13Z</dcterms:created>
  <dc:creator>PptxGenJS</dc:creator>
  <dc:description/>
  <dc:language>pt-BR</dc:language>
  <cp:lastModifiedBy/>
  <dcterms:modified xsi:type="dcterms:W3CDTF">2026-04-10T11:17:51Z</dcterms:modified>
  <cp:revision>7</cp:revision>
  <dc:subject>PptxGenJS Presentation</dc:subject>
  <dc:title>Impactos da IA Generativa no Desenvolvimento de Software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